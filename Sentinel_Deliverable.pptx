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463040" cy="1097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Risk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FD8E3"/>
                </a:solidFill>
                <a:latin typeface="Calibri"/>
              </a:rPr>
              <a:t>AI-assisted, deterministic-decision underwriting for loan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FD8E3"/>
                </a:solidFill>
                <a:latin typeface="Calibri"/>
              </a:rPr>
              <a:t>Deployed on Google Cloud Run ·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Calibri"/>
              </a:rPr>
              <a:t>Project Deliverable  •  CISC 867010 — University of Delaware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FADC0"/>
                </a:solidFill>
                <a:latin typeface="Calibri"/>
              </a:rPr>
              <a:t>Industry partner: Best Egg  ·  github.com/Khey17/sentinel-nextgenai-execution-layer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Project Overview, Goals,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What Best Egg Asked For — and 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The brief, the scope boundary, the stakeholders, the guarantees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5568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09728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“Help define and create a scalable, resilient and secure GenAI infrastructure and orchestration layer to integrate more unstructured data… in a scalable, resilient, and secure way.”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54864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548640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 scope (MVP)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12064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7AE60"/>
                </a:solidFill>
              </a:rPr>
              <a:t>✓  </a:t>
            </a:r>
            <a:r>
              <a:rPr sz="1100" b="1">
                <a:solidFill>
                  <a:srgbClr val="1A1A1A"/>
                </a:solidFill>
              </a:rPr>
              <a:t>Digital PDF documents</a:t>
            </a:r>
            <a:r>
              <a:rPr sz="1100">
                <a:solidFill>
                  <a:srgbClr val="555C6A"/>
                </a:solidFill>
              </a:rPr>
              <a:t>  bank statements, paystubs, W-2s, tax returns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7AE60"/>
                </a:solidFill>
              </a:rPr>
              <a:t>✓  </a:t>
            </a:r>
            <a:r>
              <a:rPr sz="1100" b="1">
                <a:solidFill>
                  <a:srgbClr val="1A1A1A"/>
                </a:solidFill>
              </a:rPr>
              <a:t>End-to-end pipeline</a:t>
            </a:r>
            <a:r>
              <a:rPr sz="1100">
                <a:solidFill>
                  <a:srgbClr val="555C6A"/>
                </a:solidFill>
              </a:rPr>
              <a:t>  upload → parse → redact → extract → score → audit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7AE60"/>
                </a:solidFill>
              </a:rPr>
              <a:t>✓  </a:t>
            </a:r>
            <a:r>
              <a:rPr sz="1100" b="1">
                <a:solidFill>
                  <a:srgbClr val="1A1A1A"/>
                </a:solidFill>
              </a:rPr>
              <a:t>Reason-coded decisions</a:t>
            </a:r>
            <a:r>
              <a:rPr sz="1100">
                <a:solidFill>
                  <a:srgbClr val="555C6A"/>
                </a:solidFill>
              </a:rPr>
              <a:t>  every PASS / NEEDS_REVIEW with named codes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7AE60"/>
                </a:solidFill>
              </a:rPr>
              <a:t>✓  </a:t>
            </a:r>
            <a:r>
              <a:rPr sz="1100" b="1">
                <a:solidFill>
                  <a:srgbClr val="1A1A1A"/>
                </a:solidFill>
              </a:rPr>
              <a:t>Application as a unit</a:t>
            </a:r>
            <a:r>
              <a:rPr sz="1100">
                <a:solidFill>
                  <a:srgbClr val="555C6A"/>
                </a:solidFill>
              </a:rPr>
              <a:t>  merge per-doc evidence into one decision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7AE60"/>
                </a:solidFill>
              </a:rPr>
              <a:t>✓  </a:t>
            </a:r>
            <a:r>
              <a:rPr sz="1100" b="1">
                <a:solidFill>
                  <a:srgbClr val="1A1A1A"/>
                </a:solidFill>
              </a:rPr>
              <a:t>Cloud deployment</a:t>
            </a:r>
            <a:r>
              <a:rPr sz="1100">
                <a:solidFill>
                  <a:srgbClr val="555C6A"/>
                </a:solidFill>
              </a:rPr>
              <a:t>  GCP Cloud Run, GitHub Actions auto-deploy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926080"/>
            <a:ext cx="54864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926080"/>
            <a:ext cx="548640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Out of scope (deliberately)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20440"/>
            <a:ext cx="512064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E67E22"/>
                </a:solidFill>
              </a:rPr>
              <a:t>—  </a:t>
            </a:r>
            <a:r>
              <a:rPr sz="1100" b="1">
                <a:solidFill>
                  <a:srgbClr val="1A1A1A"/>
                </a:solidFill>
              </a:rPr>
              <a:t>OCR for scanned PDFs</a:t>
            </a:r>
            <a:r>
              <a:rPr sz="1100">
                <a:solidFill>
                  <a:srgbClr val="555C6A"/>
                </a:solidFill>
              </a:rPr>
              <a:t>  digital text only — image PDFs deferred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E67E22"/>
                </a:solidFill>
              </a:rPr>
              <a:t>—  </a:t>
            </a:r>
            <a:r>
              <a:rPr sz="1100" b="1">
                <a:solidFill>
                  <a:srgbClr val="1A1A1A"/>
                </a:solidFill>
              </a:rPr>
              <a:t>Email / chat / image ingestion</a:t>
            </a:r>
            <a:r>
              <a:rPr sz="1100">
                <a:solidFill>
                  <a:srgbClr val="555C6A"/>
                </a:solidFill>
              </a:rPr>
              <a:t>  PDF upload only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E67E22"/>
                </a:solidFill>
              </a:rPr>
              <a:t>—  </a:t>
            </a:r>
            <a:r>
              <a:rPr sz="1100" b="1">
                <a:solidFill>
                  <a:srgbClr val="1A1A1A"/>
                </a:solidFill>
              </a:rPr>
              <a:t>Lending decision automation</a:t>
            </a:r>
            <a:r>
              <a:rPr sz="1100">
                <a:solidFill>
                  <a:srgbClr val="555C6A"/>
                </a:solidFill>
              </a:rPr>
              <a:t>  we recommend; underwriters decide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E67E22"/>
                </a:solidFill>
              </a:rPr>
              <a:t>—  </a:t>
            </a:r>
            <a:r>
              <a:rPr sz="1100" b="1">
                <a:solidFill>
                  <a:srgbClr val="1A1A1A"/>
                </a:solidFill>
              </a:rPr>
              <a:t>Multi-tenant auth</a:t>
            </a:r>
            <a:r>
              <a:rPr sz="1100">
                <a:solidFill>
                  <a:srgbClr val="555C6A"/>
                </a:solidFill>
              </a:rPr>
              <a:t>  single-tenant MVP, IAM as a follow-on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E67E22"/>
                </a:solidFill>
              </a:rPr>
              <a:t>—  </a:t>
            </a:r>
            <a:r>
              <a:rPr sz="1100" b="1">
                <a:solidFill>
                  <a:srgbClr val="1A1A1A"/>
                </a:solidFill>
              </a:rPr>
              <a:t>Phase 3 agentic pipeline</a:t>
            </a:r>
            <a:r>
              <a:rPr sz="1100">
                <a:solidFill>
                  <a:srgbClr val="555C6A"/>
                </a:solidFill>
              </a:rPr>
              <a:t>  scrapped — deterministic &gt;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26364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626364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63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README.md (200+ lines)  •  Phase 0/1/2 status table  •  Stakeholder matrix  •  Privacy &amp; auditability guarantees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Technical Approach &amp;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Deployed Cloud Topology +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Three Cloud Run services + Memorystore + Cloud SQL + GCS + Vertex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828800" cy="594360"/>
          </a:xfrm>
          <a:prstGeom prst="rect">
            <a:avLst/>
          </a:prstGeom>
          <a:solidFill>
            <a:srgbClr val="0B1F3A"/>
          </a:solidFill>
          <a:ln w="1587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Streamlit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Cloud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874519"/>
            <a:ext cx="2011680" cy="594360"/>
          </a:xfrm>
          <a:prstGeom prst="rect">
            <a:avLst/>
          </a:prstGeom>
          <a:solidFill>
            <a:srgbClr val="2E86DE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874519"/>
            <a:ext cx="20116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Cloud Run · 2Gi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874519"/>
            <a:ext cx="18288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74519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Cloud SQL</a:t>
            </a:r>
          </a:p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Postgres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74519"/>
            <a:ext cx="18288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874519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Cloud Storage</a:t>
            </a:r>
          </a:p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bucket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800" y="1874519"/>
            <a:ext cx="1874519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874519"/>
            <a:ext cx="1874519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Memorystore</a:t>
            </a:r>
          </a:p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Redis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2171699"/>
            <a:ext cx="457200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2171699"/>
            <a:ext cx="457200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86600" y="2171699"/>
            <a:ext cx="457200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72600" y="2171699"/>
            <a:ext cx="457200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829800" y="2880360"/>
            <a:ext cx="1874519" cy="594360"/>
          </a:xfrm>
          <a:prstGeom prst="rect">
            <a:avLst/>
          </a:prstGeom>
          <a:solidFill>
            <a:srgbClr val="0B1F3A"/>
          </a:solidFill>
          <a:ln w="1587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880360"/>
            <a:ext cx="1874519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Celery Worker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min-instances=1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771632" y="2468879"/>
            <a:ext cx="0" cy="411481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703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Per-document pipeline (sequential, idempotent steps)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11155680" cy="960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206240"/>
            <a:ext cx="1691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16916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Parse</a:t>
            </a:r>
          </a:p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pdfplumber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31720" y="4594860"/>
            <a:ext cx="109728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441448" y="4206240"/>
            <a:ext cx="1691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41448" y="4206240"/>
            <a:ext cx="16916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Classify</a:t>
            </a:r>
          </a:p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Keyword gate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33088" y="4594860"/>
            <a:ext cx="109728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242816" y="4206240"/>
            <a:ext cx="1691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2816" y="4206240"/>
            <a:ext cx="16916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Authenticate</a:t>
            </a:r>
          </a:p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Math + meta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34456" y="4594860"/>
            <a:ext cx="109728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44184" y="4206240"/>
            <a:ext cx="1691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44184" y="4206240"/>
            <a:ext cx="16916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Redact</a:t>
            </a:r>
          </a:p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Presidio + spaCy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35824" y="4594860"/>
            <a:ext cx="109728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845552" y="4206240"/>
            <a:ext cx="1691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5552" y="4206240"/>
            <a:ext cx="16916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Extract</a:t>
            </a:r>
          </a:p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Gemini 2.5 Flash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537192" y="4594860"/>
            <a:ext cx="109728" cy="0"/>
          </a:xfrm>
          <a:prstGeom prst="line">
            <a:avLst/>
          </a:prstGeom>
          <a:ln w="15875">
            <a:solidFill>
              <a:srgbClr val="555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646920" y="4206240"/>
            <a:ext cx="1691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46920" y="4206240"/>
            <a:ext cx="16916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Score</a:t>
            </a:r>
          </a:p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Deterministic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212080"/>
            <a:ext cx="111556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212080"/>
            <a:ext cx="109728" cy="8686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2578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Calibri"/>
              </a:rPr>
              <a:t>Application-level merge  ·  GET /batches/{id}/decision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6235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Merge per-doc extractions: income from paystub &gt; W-2 &gt; tax return &gt; bank deposits; risk signals from bank statement; auth = min across docs.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612648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612648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.github/workflows/deploy.yml  •  src/api/app/aggregator.py  •  src/api/app/worker.py  •  ARCHITECTURE.md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Implementation Quality &amp; Code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One Module, One Job — Clear Separation of Concerns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Repository layout + naming + type hints + minimal duplication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852160" cy="4114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59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sentinel-nextgenai-execution-layer/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├── src/api/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├── app/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main.py          # FastAPI app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routes.py        # HTTP endpoints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worker.py        # Celery tasks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models.py        # SQLAlchemy ORM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schemas.py       # Pydantic I/O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extractor.py     # Vertex AI Gemini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redactor.py      # Presidio + spaCy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authenticator.py # PDF math + meta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scorer.py        # Deterministic 100pt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aggregator.py    # Application merge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guardrails.py    # Edge validation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├── storage.py       # GCS / MinIO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│   └── metrics.py       # Prometheus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├── Dockerfile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│   └── requirements.txt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├── frontend/app.py          # Streamlit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├── tests/                   # 4 unit modules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├── monitoring/              # Prometheus + Grafana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nsolas"/>
              </a:rPr>
              <a:t>└── .github/workflows/       # CI + Deploy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874519"/>
            <a:ext cx="51206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874519"/>
            <a:ext cx="5120640" cy="4572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874519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Conventions enforced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68880"/>
            <a:ext cx="4754880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86DE"/>
                </a:solidFill>
              </a:rPr>
              <a:t>■  </a:t>
            </a:r>
            <a:r>
              <a:rPr sz="1100" b="1">
                <a:solidFill>
                  <a:srgbClr val="1A1A1A"/>
                </a:solidFill>
              </a:rPr>
              <a:t>One module, one responsibility</a:t>
            </a:r>
            <a:r>
              <a:rPr sz="1100">
                <a:solidFill>
                  <a:srgbClr val="555C6A"/>
                </a:solidFill>
              </a:rPr>
              <a:t>  scorer.py never calls Gemini; redactor.py never touches the DB.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86DE"/>
                </a:solidFill>
              </a:rPr>
              <a:t>■  </a:t>
            </a:r>
            <a:r>
              <a:rPr sz="1100" b="1">
                <a:solidFill>
                  <a:srgbClr val="1A1A1A"/>
                </a:solidFill>
              </a:rPr>
              <a:t>Type hints throughout</a:t>
            </a:r>
            <a:r>
              <a:rPr sz="1100">
                <a:solidFill>
                  <a:srgbClr val="555C6A"/>
                </a:solidFill>
              </a:rPr>
              <a:t>  from __future__ import annotations in every module; PEP 604 unions.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86DE"/>
                </a:solidFill>
              </a:rPr>
              <a:t>■  </a:t>
            </a:r>
            <a:r>
              <a:rPr sz="1100" b="1">
                <a:solidFill>
                  <a:srgbClr val="1A1A1A"/>
                </a:solidFill>
              </a:rPr>
              <a:t>Pydantic at I/O boundaries</a:t>
            </a:r>
            <a:r>
              <a:rPr sz="1100">
                <a:solidFill>
                  <a:srgbClr val="555C6A"/>
                </a:solidFill>
              </a:rPr>
              <a:t>  schemas.py contains every request/response shape — no untyped dicts in routes.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86DE"/>
                </a:solidFill>
              </a:rPr>
              <a:t>■  </a:t>
            </a:r>
            <a:r>
              <a:rPr sz="1100" b="1">
                <a:solidFill>
                  <a:srgbClr val="1A1A1A"/>
                </a:solidFill>
              </a:rPr>
              <a:t>Idempotent worker tasks</a:t>
            </a:r>
            <a:r>
              <a:rPr sz="1100">
                <a:solidFill>
                  <a:srgbClr val="555C6A"/>
                </a:solidFill>
              </a:rPr>
              <a:t>  Each Celery task overwrites its output artifact — safe to re-run.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86DE"/>
                </a:solidFill>
              </a:rPr>
              <a:t>■  </a:t>
            </a:r>
            <a:r>
              <a:rPr sz="1100" b="1">
                <a:solidFill>
                  <a:srgbClr val="1A1A1A"/>
                </a:solidFill>
              </a:rPr>
              <a:t>Comments explain WHY, not what</a:t>
            </a:r>
            <a:r>
              <a:rPr sz="1100">
                <a:solidFill>
                  <a:srgbClr val="555C6A"/>
                </a:solidFill>
              </a:rPr>
              <a:t>  scorer.py docstring: “Not 'AI said 0.74' — but reason codes that ship.”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86DE"/>
                </a:solidFill>
              </a:rPr>
              <a:t>■  </a:t>
            </a:r>
            <a:r>
              <a:rPr sz="1100" b="1">
                <a:solidFill>
                  <a:srgbClr val="1A1A1A"/>
                </a:solidFill>
              </a:rPr>
              <a:t>Minimal duplication</a:t>
            </a:r>
            <a:r>
              <a:rPr sz="1100">
                <a:solidFill>
                  <a:srgbClr val="555C6A"/>
                </a:solidFill>
              </a:rPr>
              <a:t>  compute_score() reused for per-doc and application; merge_extractions does not duplicate scoring logic.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12648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16 modules in src/api/app  •  100% type-annotated public APIs  •  Pydantic schemas at all routes  •  scorer.py reused via aggregator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ML Models, Metrics &amp;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What the System Runs and How We Measure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Three models in production · Prometheus instrumented · documented choice of 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556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Latency (p50)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82880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Why this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Gemini 2.5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2860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Structured field extraction (Vertex AI, schema-pinned)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860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5 – 20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28600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Fast tier, structured-output JSON schema, region-local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432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spaCy en_core_web_lg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432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Named-entity recognition for PII redaction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7432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200 – 500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74320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Higher-recall NER than _sm; runs CPU-only in 2 GiB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0040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200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Presidio analyzer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2004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Pattern-based PII (SSN, accounts, routing #)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200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100 – 300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20040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Deterministic regex tier — catches what spaCy misses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03320"/>
            <a:ext cx="54864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703320"/>
            <a:ext cx="5486400" cy="4572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703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Profiling — how we know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251960"/>
            <a:ext cx="512064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Per-step timers</a:t>
            </a:r>
            <a:r>
              <a:rPr sz="1000">
                <a:solidFill>
                  <a:srgbClr val="555C6A"/>
                </a:solidFill>
              </a:rPr>
              <a:t>  worker.py records start = time.time(), record_step(name, elapsed)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Prometheus metrics</a:t>
            </a:r>
            <a:r>
              <a:rPr sz="1000">
                <a:solidFill>
                  <a:srgbClr val="555C6A"/>
                </a:solidFill>
              </a:rPr>
              <a:t>  histograms per step via prometheus-fastapi-instrumentator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Grafana 15-panel board</a:t>
            </a:r>
            <a:r>
              <a:rPr sz="1000">
                <a:solidFill>
                  <a:srgbClr val="555C6A"/>
                </a:solidFill>
              </a:rPr>
              <a:t>  throughput, per-step latency, failure-by-step, queue depth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Synthetic load harness</a:t>
            </a:r>
            <a:r>
              <a:rPr sz="1000">
                <a:solidFill>
                  <a:srgbClr val="555C6A"/>
                </a:solidFill>
              </a:rPr>
              <a:t>  tests/generate_1000_pairs.py for stress testing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703320"/>
            <a:ext cx="54864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703320"/>
            <a:ext cx="5486400" cy="4572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703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Metric choice — and why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251960"/>
            <a:ext cx="512064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Deterministic 100-pt score</a:t>
            </a:r>
            <a:r>
              <a:rPr sz="1000">
                <a:solidFill>
                  <a:srgbClr val="555C6A"/>
                </a:solidFill>
              </a:rPr>
              <a:t>  Replaces 'LLM said 0.74' with reason codes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Threshold = 0.80</a:t>
            </a:r>
            <a:r>
              <a:rPr sz="1000">
                <a:solidFill>
                  <a:srgbClr val="555C6A"/>
                </a:solidFill>
              </a:rPr>
              <a:t>  Configurable via CONFIDENCE_THRESHOLD env var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Hard stops bypass score</a:t>
            </a:r>
            <a:r>
              <a:rPr sz="1000">
                <a:solidFill>
                  <a:srgbClr val="555C6A"/>
                </a:solidFill>
              </a:rPr>
              <a:t>  AUTH_FAILED / INTEGRITY_FAIL force review at any score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Why not LLM confidence?</a:t>
            </a:r>
            <a:r>
              <a:rPr sz="1000">
                <a:solidFill>
                  <a:srgbClr val="555C6A"/>
                </a:solidFill>
              </a:rPr>
              <a:t>  Not auditable, drifts across model versions, no reasons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12648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12648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scorer.py · 100pt scorecard with reason codes  •  monitoring/grafana/ · 15-panel board  •  metrics.py · Prometheus instruments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Performance, Resources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Honest Numbers from the Deployed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Per-step latency, steady-state throughput, hard ceilings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5836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74519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Bottleneck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19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1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Parse (pdfplumber)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1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1 – 3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3171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PDF page 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97479"/>
            <a:ext cx="6583680" cy="3657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7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Classify (keyword)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9747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&lt; 1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9747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Pure 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63239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6323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Authenticate (math+meta)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632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1 – 2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6323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Deterministic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28999"/>
            <a:ext cx="6583680" cy="3657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42899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Redact (Presidio+spaCy)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42899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2 – 5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42899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spaCy en_core_web_lg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94759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79475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Extract (Gemini Flash)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9475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5 – 20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9475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Vertex AI round-trip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60519"/>
            <a:ext cx="6583680" cy="3657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16051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Score + cleanup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16051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86DE"/>
                </a:solidFill>
                <a:latin typeface="Calibri"/>
              </a:rPr>
              <a:t>&lt; 1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16051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Pure Python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71999"/>
            <a:ext cx="65836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571999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per 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571999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 – 30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571999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dominates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1874519"/>
            <a:ext cx="42976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60920" y="1874519"/>
            <a:ext cx="4297680" cy="4572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1874519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1,000-user load — honest answer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2468880"/>
            <a:ext cx="39319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24688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/ 1 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2468880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1.4 docs/min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2468880"/>
            <a:ext cx="868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✓ today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3063240"/>
            <a:ext cx="39319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26679" y="306324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/ 1 hour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3063240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33 docs/min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1320" y="3063240"/>
            <a:ext cx="868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Calibri"/>
              </a:rPr>
              <a:t>△ scale-out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43800" y="3657600"/>
            <a:ext cx="39319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79" y="365760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/ 5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3657600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400 docs/min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61320" y="3657600"/>
            <a:ext cx="868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✗ Gemini cap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4434840"/>
            <a:ext cx="39319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Hard ceiling: Vertex AI Gemini 2.5 Flash quota ≈ 300 RPM/region. Per-worker rate_limit="100/m" is a safety throttle, not the ceiling. Even with infinite workers, Gemini caps the system.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12648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612648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5 docs/min/worker · 300/hr · 7,200/day  •  Worker: 2 CPU / 2 GiB · concurrency=1  •  Documented in deploy.yml + entrypoint.sh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Testing, Validation &amp;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How We Know the Software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688 lines of unit tests · CI on every push · documented edge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Unit tests — core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12064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test_authenticator.py · 129 lines</a:t>
            </a:r>
            <a:r>
              <a:rPr sz="1000">
                <a:solidFill>
                  <a:srgbClr val="555C6A"/>
                </a:solidFill>
              </a:rPr>
              <a:t>  PDF balance reconciliation, document type classification, fraud flags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test_guardrails.py · 133 lines</a:t>
            </a:r>
            <a:r>
              <a:rPr sz="1000">
                <a:solidFill>
                  <a:srgbClr val="555C6A"/>
                </a:solidFill>
              </a:rPr>
              <a:t>  MIME, magic bytes, file size, PII-dump rejection at the edge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test_classifier.py · 213 lines</a:t>
            </a:r>
            <a:r>
              <a:rPr sz="1000">
                <a:solidFill>
                  <a:srgbClr val="555C6A"/>
                </a:solidFill>
              </a:rPr>
              <a:t>  Keyword gate: financial vs non-financial documents, edge cases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test_redactor.py · 213 lines</a:t>
            </a:r>
            <a:r>
              <a:rPr sz="1000">
                <a:solidFill>
                  <a:srgbClr val="555C6A"/>
                </a:solidFill>
              </a:rPr>
              <a:t>  Presidio + spaCy: SSN, accounts, names; placeholder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86DE"/>
                </a:solidFill>
                <a:latin typeface="Calibri"/>
              </a:rPr>
              <a:t>Edge cases &amp; failure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512064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⚠  </a:t>
            </a:r>
            <a:r>
              <a:rPr sz="1000" b="1">
                <a:solidFill>
                  <a:srgbClr val="1A1A1A"/>
                </a:solidFill>
              </a:rPr>
              <a:t>Empty PDF, corrupt PDF</a:t>
            </a:r>
            <a:r>
              <a:rPr sz="1000">
                <a:solidFill>
                  <a:srgbClr val="555C6A"/>
                </a:solidFill>
              </a:rPr>
              <a:t>  guardrails reject before pipeline starts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⚠  </a:t>
            </a:r>
            <a:r>
              <a:rPr sz="1000" b="1">
                <a:solidFill>
                  <a:srgbClr val="1A1A1A"/>
                </a:solidFill>
              </a:rPr>
              <a:t>Non-financial document</a:t>
            </a:r>
            <a:r>
              <a:rPr sz="1000">
                <a:solidFill>
                  <a:srgbClr val="555C6A"/>
                </a:solidFill>
              </a:rPr>
              <a:t>  classifier rejects (lease, receipt → FAILED)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⚠  </a:t>
            </a:r>
            <a:r>
              <a:rPr sz="1000" b="1">
                <a:solidFill>
                  <a:srgbClr val="1A1A1A"/>
                </a:solidFill>
              </a:rPr>
              <a:t>PII leakage in LLM output</a:t>
            </a:r>
            <a:r>
              <a:rPr sz="1000">
                <a:solidFill>
                  <a:srgbClr val="555C6A"/>
                </a:solidFill>
              </a:rPr>
              <a:t>  post-extraction PII scan + retry block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⚠  </a:t>
            </a:r>
            <a:r>
              <a:rPr sz="1000" b="1">
                <a:solidFill>
                  <a:srgbClr val="1A1A1A"/>
                </a:solidFill>
              </a:rPr>
              <a:t>Duplicate file upload</a:t>
            </a:r>
            <a:r>
              <a:rPr sz="1000">
                <a:solidFill>
                  <a:srgbClr val="555C6A"/>
                </a:solidFill>
              </a:rPr>
              <a:t>  SHA-256 dedup at /batches/upload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48640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486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19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Integration / E2E +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512064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Live deployment as E2E</a:t>
            </a:r>
            <a:r>
              <a:rPr sz="1000">
                <a:solidFill>
                  <a:srgbClr val="555C6A"/>
                </a:solidFill>
              </a:rPr>
              <a:t>  sentinel-frontend-1041799394320.us-central1.run.app — every push tests the full pipeline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Application merge verified</a:t>
            </a:r>
            <a:r>
              <a:rPr sz="1000">
                <a:solidFill>
                  <a:srgbClr val="555C6A"/>
                </a:solidFill>
              </a:rPr>
              <a:t>  paystub + bank statement → 100/100 PASS, locally reproduced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Smoke flow</a:t>
            </a:r>
            <a:r>
              <a:rPr sz="1000">
                <a:solidFill>
                  <a:srgbClr val="555C6A"/>
                </a:solidFill>
              </a:rPr>
              <a:t>  upload → status poll → results fetch — exercised on every demo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Bulk fixtures</a:t>
            </a:r>
            <a:r>
              <a:rPr sz="1000">
                <a:solidFill>
                  <a:srgbClr val="555C6A"/>
                </a:solidFill>
              </a:rPr>
              <a:t>  tests/generate_1000_pairs.py · synthesizes paired documents at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4434840"/>
            <a:ext cx="49377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DD6F4"/>
                </a:solidFill>
                <a:latin typeface="Calibri"/>
              </a:rPr>
              <a:t>CI runner — .github/workflows/ci.yml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892040"/>
            <a:ext cx="493776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9834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CDD6F4"/>
                </a:solidFill>
                <a:latin typeface="Consolas"/>
              </a:rPr>
              <a:t>- run: pip install -r src/api/requirements.txt</a:t>
            </a:r>
          </a:p>
          <a:p>
            <a:pPr algn="l"/>
            <a:r>
              <a:rPr sz="900">
                <a:solidFill>
                  <a:srgbClr val="CDD6F4"/>
                </a:solidFill>
                <a:latin typeface="Consolas"/>
              </a:rPr>
              <a:t>- run: python -m spacy download en_core_web_lg</a:t>
            </a:r>
          </a:p>
          <a:p>
            <a:pPr algn="l"/>
            <a:r>
              <a:rPr sz="900">
                <a:solidFill>
                  <a:srgbClr val="CDD6F4"/>
                </a:solidFill>
                <a:latin typeface="Consolas"/>
              </a:rPr>
              <a:t>- run: pytest tests/ -v --tb=short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6364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626364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263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tests/ · 4 modules · 688 LOC  •  .github/workflows/ci.yml on every push  •  Live URL exercises full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Reproducibility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Two Targets, Pinned Environment, One Quickstart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Local Docker Compose for development · GCP Cloud Run for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Local — Docker Compose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585216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Clone and start the stack (~3 min on first run)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git clone https://github.com/Khey17/sentinel-\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    nextgenai-execution-layer.git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cd sentinel-nextgenai-execution-layer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cp .env.example .env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docker compose up --build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Frontend:  http://localhost:8501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API docs:  http://localhost:8000/docs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Grafana:   http://localhost:3000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Production — GCP Cloud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530352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Triggered by push to main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git push origin main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.github/workflows/deploy.yml builds + deploys: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  sentinel-api      (Cloud Run, 2Gi)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  sentinel-worker   (Cloud Run, min-instances=1)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  sentinel-frontend (Cloud Run)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CDD6F4"/>
                </a:solidFill>
                <a:latin typeface="Consolas"/>
              </a:rPr>
              <a:t># Live: sentinel-frontend-...us-central1.run.app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00600"/>
            <a:ext cx="112014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800600"/>
            <a:ext cx="109728" cy="12801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Environment is pinned and deterministic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789920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requirements.txt</a:t>
            </a:r>
            <a:r>
              <a:rPr sz="1000">
                <a:solidFill>
                  <a:srgbClr val="555C6A"/>
                </a:solidFill>
              </a:rPr>
              <a:t>  exact versions for fastapi, sqlalchemy, psycopg, celery, presidio, spacy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Dockerfile</a:t>
            </a:r>
            <a:r>
              <a:rPr sz="1000">
                <a:solidFill>
                  <a:srgbClr val="555C6A"/>
                </a:solidFill>
              </a:rPr>
              <a:t>  python:3.11-slim base, model downloaded at build time, deterministic across hosts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■  </a:t>
            </a:r>
            <a:r>
              <a:rPr sz="1000" b="1">
                <a:solidFill>
                  <a:srgbClr val="1A1A1A"/>
                </a:solidFill>
              </a:rPr>
              <a:t>docker-compose.yml</a:t>
            </a:r>
            <a:r>
              <a:rPr sz="1000">
                <a:solidFill>
                  <a:srgbClr val="555C6A"/>
                </a:solidFill>
              </a:rPr>
              <a:t>  MinIO, Postgres, Redis, API, Worker, Frontend, Prometheus, Grafana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612648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12648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README.md quickstart  •  src/api/requirements.txt (pinned)  •  .env.example  •  docker-compose.yml (8 services)  •  Verified on macOS + Cloud Run Linux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Documentation, Licensing &amp; Release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Files a Grader Can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README · LICENSE · CHANGELOG · RELEASE_NOTES · pyproject · v1.0.0 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11556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74519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19"/>
            <a:ext cx="11155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19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331719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Project goals, scope, stakeholders, quickstart, architecture diagram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15767"/>
            <a:ext cx="1115568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15767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715767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Apache License 2.0 (with NSF-DARSE attribution)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99815"/>
            <a:ext cx="11155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99815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NOTICE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099815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Third-party attributions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83863"/>
            <a:ext cx="1115568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83863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CHANGELOG.md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483863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Keep-a-Changelog format · v1.0.0 entry with all features and fixes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67911"/>
            <a:ext cx="11155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67911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RELEASE_NOTES.md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67911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v1.0.0 high-level summary, known issues, migration notes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51959"/>
            <a:ext cx="1115568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51959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pyproject.toml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251959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Package metadata, version, pinned deps, optional [test] extras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36007"/>
            <a:ext cx="11155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636007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ARCHITECTURE.md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636007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Mermaid diagram + component-by-component description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20055"/>
            <a:ext cx="1115568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20055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docs/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020055"/>
            <a:ext cx="73152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Sphinx scaffold + course PDF artifact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486400"/>
            <a:ext cx="109728" cy="6400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864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Versioning: SemVer · current = v1.0.0 (tagged release) · auto-deploy from main on every push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26364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626364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263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Apache 2.0 LICENSE  •  v1.0.0 git tag + GH release  •  CHANGELOG follows Keep-a-Changelog  •  pyproject.toml installable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Results, Deliverables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What Best Egg Asked For — and What Now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Each line item: deliverable from the brief vs the artifact that ships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09728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47672"/>
            <a:ext cx="23774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019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End-to-end pipeline upload → parse → redact → extract → score →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212848"/>
            <a:ext cx="82296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C6A"/>
                </a:solidFill>
                <a:latin typeface="Calibri"/>
              </a:rPr>
              <a:t>→ src/api/app/* · 16 modules · 5 worker tasks · idempotent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87752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87752"/>
            <a:ext cx="109728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706624"/>
            <a:ext cx="23774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06624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Visualization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660904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Customer + Business views with reason codes, score breakdown, redaction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971800"/>
            <a:ext cx="82296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C6A"/>
                </a:solidFill>
                <a:latin typeface="Calibri"/>
              </a:rPr>
              <a:t>→ frontend/app.py · live at sentinel-frontend...run.app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46704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46704"/>
            <a:ext cx="109728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465576"/>
            <a:ext cx="23774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65576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419856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Running, auto-deploying system on GCP — not a prototype sketch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730752"/>
            <a:ext cx="82296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C6A"/>
                </a:solidFill>
                <a:latin typeface="Calibri"/>
              </a:rPr>
              <a:t>→ .github/workflows/deploy.yml · 3 Cloud Run services · pinned worker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05656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105656"/>
            <a:ext cx="109728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224528"/>
            <a:ext cx="23774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24528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Privacy guarantee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17880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PII never reaches the LLM (enforced by pipeline order, not discipline)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489704"/>
            <a:ext cx="82296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C6A"/>
                </a:solidFill>
                <a:latin typeface="Calibri"/>
              </a:rPr>
              <a:t>→ redactor.py runs before extractor.py in chain · Presidio + spaCy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864608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864608"/>
            <a:ext cx="109728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983480"/>
            <a:ext cx="23774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9834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Reason-coded explainability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93776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Every PASS / NEEDS_REVIEW carries the specific reason codes that justified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248656"/>
            <a:ext cx="82296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C6A"/>
                </a:solidFill>
                <a:latin typeface="Calibri"/>
              </a:rPr>
              <a:t>→ scorer.py · ECOA / Reg B-ready adverse action codes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623560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623560"/>
            <a:ext cx="109728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5742432"/>
            <a:ext cx="23774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4243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Application-level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69671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Bank statement + paystub merged into ONE recommendation per applicant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6007608"/>
            <a:ext cx="82296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C6A"/>
                </a:solidFill>
                <a:latin typeface="Calibri"/>
              </a:rPr>
              <a:t>→ aggregator.py · GET /batches/{id}/decision (NEW)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Release Notes — v1.0.0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What's in This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Initial production release · auto-deploy from main 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61188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61188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 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79"/>
            <a:ext cx="3246120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Application-level merge</a:t>
            </a:r>
            <a:r>
              <a:rPr sz="1000">
                <a:solidFill>
                  <a:srgbClr val="555C6A"/>
                </a:solidFill>
              </a:rPr>
              <a:t>  /batches/{id}/decision combines paystub + bank statement into one decision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Reason-coded customer view</a:t>
            </a:r>
            <a:r>
              <a:rPr sz="1000">
                <a:solidFill>
                  <a:srgbClr val="555C6A"/>
                </a:solidFill>
              </a:rPr>
              <a:t>  Score, risk band, top findings, ECOA / Reg B explainability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Business review queue</a:t>
            </a:r>
            <a:r>
              <a:rPr sz="1000">
                <a:solidFill>
                  <a:srgbClr val="555C6A"/>
                </a:solidFill>
              </a:rPr>
              <a:t>  Score breakdown per item, one-click approve/reject with auto-attached reasons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PII redaction</a:t>
            </a:r>
            <a:r>
              <a:rPr sz="1000">
                <a:solidFill>
                  <a:srgbClr val="555C6A"/>
                </a:solidFill>
              </a:rPr>
              <a:t>  Presidio + spaCy en_core_web_lg before any LLM call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Auto-deploy</a:t>
            </a:r>
            <a:r>
              <a:rPr sz="1000">
                <a:solidFill>
                  <a:srgbClr val="555C6A"/>
                </a:solidFill>
              </a:rPr>
              <a:t>  GitHub Actions → Cloud Run on push to 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361188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11880" cy="4572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19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🛠 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79"/>
            <a:ext cx="3246120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Worker scale-to-zero</a:t>
            </a:r>
            <a:r>
              <a:rPr sz="1000">
                <a:solidFill>
                  <a:srgbClr val="555C6A"/>
                </a:solidFill>
              </a:rPr>
              <a:t>  Cloud Run was reaping the worker (commit 92288a7); pinned --min-instances=1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Reason codes surfaced</a:t>
            </a:r>
            <a:r>
              <a:rPr sz="1000">
                <a:solidFill>
                  <a:srgbClr val="555C6A"/>
                </a:solidFill>
              </a:rPr>
              <a:t>  Frontend was hiding the scorecard (commit 5324095); now rendered with severity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Worker stability</a:t>
            </a:r>
            <a:r>
              <a:rPr sz="1000">
                <a:solidFill>
                  <a:srgbClr val="555C6A"/>
                </a:solidFill>
              </a:rPr>
              <a:t>  concurrency=1, prefetch=1 prevents head-of-line blocking (commit e2003c7)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Null-income guard</a:t>
            </a:r>
            <a:r>
              <a:rPr sz="1000">
                <a:solidFill>
                  <a:srgbClr val="555C6A"/>
                </a:solidFill>
              </a:rPr>
              <a:t>  TypeError on $0/null monthly_net (commit 15d3639)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Frontend poll cap</a:t>
            </a:r>
            <a:r>
              <a:rPr sz="1000">
                <a:solidFill>
                  <a:srgbClr val="555C6A"/>
                </a:solidFill>
              </a:rPr>
              <a:t>  2-min cap prevents infinite spinner on a stuck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361188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361188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874519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⚠  Known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68879"/>
            <a:ext cx="3246120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Vertex AI quota cap</a:t>
            </a:r>
            <a:r>
              <a:rPr sz="1000">
                <a:solidFill>
                  <a:srgbClr val="555C6A"/>
                </a:solidFill>
              </a:rPr>
              <a:t>  300 RPM/region/project limits burst capacity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Single worker bottleneck</a:t>
            </a:r>
            <a:r>
              <a:rPr sz="1000">
                <a:solidFill>
                  <a:srgbClr val="555C6A"/>
                </a:solidFill>
              </a:rPr>
              <a:t>  concurrency=1 trades throughput for memory headroom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OCR not supported</a:t>
            </a:r>
            <a:r>
              <a:rPr sz="1000">
                <a:solidFill>
                  <a:srgbClr val="555C6A"/>
                </a:solidFill>
              </a:rPr>
              <a:t>  Scanned/image PDFs deferred — digital text only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No multi-tenant auth</a:t>
            </a:r>
            <a:r>
              <a:rPr sz="1000">
                <a:solidFill>
                  <a:srgbClr val="555C6A"/>
                </a:solidFill>
              </a:rPr>
              <a:t>  Single-tenant MVP; IAM is a follow-on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●  </a:t>
            </a:r>
            <a:r>
              <a:rPr sz="1000" b="1">
                <a:solidFill>
                  <a:srgbClr val="1A1A1A"/>
                </a:solidFill>
              </a:rPr>
              <a:t>No formal migration</a:t>
            </a:r>
            <a:r>
              <a:rPr sz="1000">
                <a:solidFill>
                  <a:srgbClr val="555C6A"/>
                </a:solidFill>
              </a:rPr>
              <a:t>  v1.0.0 is initial release — no upgrade path needed yet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263640"/>
            <a:ext cx="1115568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263640"/>
            <a:ext cx="10972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63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 CHANGELOG.md (Keep-a-Changelog format)  •  RELEASE_NOTES.md (this slide)  •  git tag v1.0.0 + GitHub 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SENTINEL  •  Reflection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E86DE"/>
                </a:solidFill>
                <a:latin typeface="Calibri"/>
              </a:rPr>
              <a:t>Rubric: 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What We Learned · What We'd Build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C6A"/>
                </a:solidFill>
                <a:latin typeface="Calibri"/>
              </a:rPr>
              <a:t>Honest retrospective — choices, regrets, the next milestone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Reflections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Calibri"/>
              </a:rPr>
              <a:t>What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5120640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7AE60"/>
                </a:solidFill>
              </a:rPr>
              <a:t>✓  </a:t>
            </a:r>
            <a:r>
              <a:rPr sz="1000" b="1">
                <a:solidFill>
                  <a:srgbClr val="1A1A1A"/>
                </a:solidFill>
              </a:rPr>
              <a:t>Deterministic scorecard</a:t>
            </a:r>
            <a:r>
              <a:rPr sz="1000">
                <a:solidFill>
                  <a:srgbClr val="555C6A"/>
                </a:solidFill>
              </a:rPr>
              <a:t>  Replacing 'AI confidence' with reason codes was the single highest-leverage decision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7AE60"/>
                </a:solidFill>
              </a:rPr>
              <a:t>✓  </a:t>
            </a:r>
            <a:r>
              <a:rPr sz="1000" b="1">
                <a:solidFill>
                  <a:srgbClr val="1A1A1A"/>
                </a:solidFill>
              </a:rPr>
              <a:t>Scrapping Phase 3 agentic pipeline</a:t>
            </a:r>
            <a:r>
              <a:rPr sz="1000">
                <a:solidFill>
                  <a:srgbClr val="555C6A"/>
                </a:solidFill>
              </a:rPr>
              <a:t>  Determinism beat orchestration complexity; recovered 2 weeks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7AE60"/>
                </a:solidFill>
              </a:rPr>
              <a:t>✓  </a:t>
            </a:r>
            <a:r>
              <a:rPr sz="1000" b="1">
                <a:solidFill>
                  <a:srgbClr val="1A1A1A"/>
                </a:solidFill>
              </a:rPr>
              <a:t>Application-level merge</a:t>
            </a:r>
            <a:r>
              <a:rPr sz="1000">
                <a:solidFill>
                  <a:srgbClr val="555C6A"/>
                </a:solidFill>
              </a:rPr>
              <a:t>  Per-document scoring gave conflicting verdicts; merge was a clean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Calibri"/>
              </a:rPr>
              <a:t>What didn't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5120640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—  </a:t>
            </a:r>
            <a:r>
              <a:rPr sz="1000" b="1">
                <a:solidFill>
                  <a:srgbClr val="1A1A1A"/>
                </a:solidFill>
              </a:rPr>
              <a:t>Cloud Run for long-running workers</a:t>
            </a:r>
            <a:r>
              <a:rPr sz="1000">
                <a:solidFill>
                  <a:srgbClr val="555C6A"/>
                </a:solidFill>
              </a:rPr>
              <a:t>  Scale-to-zero burned us; --min-instances=1 fixed it but the pattern is wrong long-term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—  </a:t>
            </a:r>
            <a:r>
              <a:rPr sz="1000" b="1">
                <a:solidFill>
                  <a:srgbClr val="1A1A1A"/>
                </a:solidFill>
              </a:rPr>
              <a:t>Frontend hid the scorecard initially</a:t>
            </a:r>
            <a:r>
              <a:rPr sz="1000">
                <a:solidFill>
                  <a:srgbClr val="555C6A"/>
                </a:solidFill>
              </a:rPr>
              <a:t>  Hardcoded 'Low Risk' label undermined the deterministic backend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E67E22"/>
                </a:solidFill>
              </a:rPr>
              <a:t>—  </a:t>
            </a:r>
            <a:r>
              <a:rPr sz="1000" b="1">
                <a:solidFill>
                  <a:srgbClr val="1A1A1A"/>
                </a:solidFill>
              </a:rPr>
              <a:t>CI was a no-op for too long</a:t>
            </a:r>
            <a:r>
              <a:rPr sz="1000">
                <a:solidFill>
                  <a:srgbClr val="555C6A"/>
                </a:solidFill>
              </a:rPr>
              <a:t>  ls -R . is not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48640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874519"/>
            <a:ext cx="5486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19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Future work — prioritized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120640" cy="3840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→  </a:t>
            </a:r>
            <a:r>
              <a:rPr sz="1000" b="1">
                <a:solidFill>
                  <a:srgbClr val="1A1A1A"/>
                </a:solidFill>
              </a:rPr>
              <a:t>1. Workers off Cloud Run services</a:t>
            </a:r>
            <a:r>
              <a:rPr sz="1000">
                <a:solidFill>
                  <a:srgbClr val="555C6A"/>
                </a:solidFill>
              </a:rPr>
              <a:t>  Move Celery to GKE with HPA on Redis depth, or convert to Cloud Run Jobs — for real scale-out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→  </a:t>
            </a:r>
            <a:r>
              <a:rPr sz="1000" b="1">
                <a:solidFill>
                  <a:srgbClr val="1A1A1A"/>
                </a:solidFill>
              </a:rPr>
              <a:t>2. Vertex AI quota lift + batched extraction</a:t>
            </a:r>
            <a:r>
              <a:rPr sz="1000">
                <a:solidFill>
                  <a:srgbClr val="555C6A"/>
                </a:solidFill>
              </a:rPr>
              <a:t>  Negotiate quota; explore Gemini batch API for non-real-time loads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→  </a:t>
            </a:r>
            <a:r>
              <a:rPr sz="1000" b="1">
                <a:solidFill>
                  <a:srgbClr val="1A1A1A"/>
                </a:solidFill>
              </a:rPr>
              <a:t>3. OCR for scanned PDFs</a:t>
            </a:r>
            <a:r>
              <a:rPr sz="1000">
                <a:solidFill>
                  <a:srgbClr val="555C6A"/>
                </a:solidFill>
              </a:rPr>
              <a:t>  Document AI integration; biggest functional gap vs the brief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→  </a:t>
            </a:r>
            <a:r>
              <a:rPr sz="1000" b="1">
                <a:solidFill>
                  <a:srgbClr val="1A1A1A"/>
                </a:solidFill>
              </a:rPr>
              <a:t>4. Cross-document consistency check</a:t>
            </a:r>
            <a:r>
              <a:rPr sz="1000">
                <a:solidFill>
                  <a:srgbClr val="555C6A"/>
                </a:solidFill>
              </a:rPr>
              <a:t>  Paystub income vs bank deposits within ±20% — fraud signal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→  </a:t>
            </a:r>
            <a:r>
              <a:rPr sz="1000" b="1">
                <a:solidFill>
                  <a:srgbClr val="1A1A1A"/>
                </a:solidFill>
              </a:rPr>
              <a:t>5. Phase 4 — Trusted RAG chatbot</a:t>
            </a:r>
            <a:r>
              <a:rPr sz="1000">
                <a:solidFill>
                  <a:srgbClr val="555C6A"/>
                </a:solidFill>
              </a:rPr>
              <a:t>  Private LLM over redacted documents, no PII exits the perimeter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86DE"/>
                </a:solidFill>
              </a:rPr>
              <a:t>→  </a:t>
            </a:r>
            <a:r>
              <a:rPr sz="1000" b="1">
                <a:solidFill>
                  <a:srgbClr val="1A1A1A"/>
                </a:solidFill>
              </a:rPr>
              <a:t>6. Multi-tenant auth + RBAC</a:t>
            </a:r>
            <a:r>
              <a:rPr sz="1000">
                <a:solidFill>
                  <a:srgbClr val="555C6A"/>
                </a:solidFill>
              </a:rPr>
              <a:t>  Customer / Business / Auditor roles via IAP or Auth0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55C6A"/>
                </a:solidFill>
                <a:latin typeface="Calibri"/>
              </a:rPr>
              <a:t>Sentinel  •  Risk Analysis Pipeline  •  v1.0.0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55C6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1463040" cy="1097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Live and Reviewable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FD8E3"/>
                </a:solidFill>
                <a:latin typeface="Calibri"/>
              </a:rPr>
              <a:t>sentinel-frontend-1041799394320.us-central1.run.app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FD8E3"/>
                </a:solidFill>
                <a:latin typeface="Calibri"/>
              </a:rPr>
              <a:t>github.com/Khey17/sentinel-nextgenai-execution-layer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Calibri"/>
              </a:rPr>
              <a:t>AI as assistant. Deterministic scorecard as decider.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Every recommendation has a reason code attached.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FADC0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